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B1B1F"/>
                </a:solidFill>
                <a:latin typeface="Segoe UI"/>
              </a:rPr>
              <a:t>Knowable Worlds</a:t>
            </a:r>
          </a:p>
          <a:p>
            <a:r>
              <a:rPr sz="2200" b="0" i="0">
                <a:solidFill>
                  <a:srgbClr val="3A6EA5"/>
                </a:solidFill>
                <a:latin typeface="Segoe UI"/>
              </a:rPr>
              <a:t>Measuring whether LLM forecasts — and LLM causal beliefs — track a changing causal environment</a:t>
            </a:r>
          </a:p>
          <a:p>
            <a:pPr>
              <a:spcBef>
                <a:spcPts val="1800"/>
              </a:spcBef>
            </a:pPr>
            <a:r>
              <a:rPr sz="1400" b="0" i="0">
                <a:solidFill>
                  <a:srgbClr val="5C5C66"/>
                </a:solidFill>
                <a:latin typeface="Segoe UI"/>
              </a:rPr>
              <a:t>Motivation and study design · Sean Kelley ·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57400"/>
            <a:ext cx="2377440" cy="3810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Research question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forecasting under structural change requires two distinct 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1.  Updating the predictive model when the regime shifts.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2.  Relating that update to the change in the underlying causal structure.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>Are these abilities </a:t>
            </a:r>
            <a:r>
              <a:rPr sz="1800" b="1" i="0">
                <a:solidFill>
                  <a:srgbClr val="2F7D4F"/>
                </a:solidFill>
                <a:latin typeface="Segoe UI"/>
              </a:rPr>
              <a:t>coupled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 or </a:t>
            </a:r>
            <a:r>
              <a:rPr sz="1800" b="1" i="0">
                <a:solidFill>
                  <a:srgbClr val="B5652F"/>
                </a:solidFill>
                <a:latin typeface="Segoe UI"/>
              </a:rPr>
              <a:t>dissociated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 in current LLMs?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under coupling, a structural change elicits both forecast adaptation and a corresponding revision of the stated causal model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under dissociation, forecasts adapt through recency alone while the stated causal model remains unrevised — prediction without understanding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>The two are observationally equivalent on standard forecasting benchmarks. Distinguishing them requires scoring both outputs — stated probabilities and stated structure — against exact ground truth, before and after a controlled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The measurement problem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why the question requires simulated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Naturalistic benchmarks score probabilities against realized binary outcomes.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the true probability of a real event is unknowable, so calibration can be assessed only in aggregate, by binning across items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a model that lacked the relevant information is indistinguishable from one that failed the computation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In a simulated environment the generating equations are known.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the true probability p* of every item is exactly computable; each stated probability is scored item by item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the true causal structure is known at every period; stated structure is scored per edge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C5C66"/>
                </a:solidFill>
                <a:latin typeface="Segoe UI"/>
              </a:rPr>
              <a:t>the timing and content of the change are experimenter-controlled, so predictive and causal-structural updating are measured separately against the optimum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>The environments are synthetic, so training-data contamination is excluded by construction.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Related work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closest prior lines, and what remains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108960"/>
                <a:gridCol w="457200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prior line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representative work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gap relative to this study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causal-reasoning benchmarks spanning association, intervention, and counterfactuals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CLadder (2312.04350); Corr2Cause (2306.05836)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binary accuracy rather than probability calibration; static problems; no forecasting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forecast evaluation against simulated ground truth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ForecastBench-Sim (2606.18686)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identified as future work; no causal layer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divergence between stated reasoning and behavior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Turpin et al. (2305.04388)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free-text rationales; no exact truth for either channel; no adaptation over time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in-context learning under regime change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2604.16988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trained transformers on synthetic tasks; no prompted LLM; no structure elicitation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LLM time-series forecasting with contextual information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CiK (2410.18959); From News to Forecast (2409.17515)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1F"/>
                          </a:solidFill>
                          <a:latin typeface="Segoe UI"/>
                        </a:rPr>
                        <a:t>accuracy on real series; ground-truth probabilities unknowable; no causal elicitation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To our knowledge, no prior study scores predictive updating and causal-structural updating against exact truth in the same environment; the dissociation question has not been posed quantitatively.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Design: the data-generating process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a lag-1 linear system with a controlled structural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680960" cy="30366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417320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1B1F"/>
                </a:solidFill>
                <a:latin typeface="Segoe UI"/>
              </a:rPr>
              <a:t>8 variables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; each period is a linear function of the previous period (18 cross-lag edges plus autoregressive terms)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1B1B1F"/>
                </a:solidFill>
                <a:latin typeface="Segoe UI"/>
              </a:rPr>
              <a:t>at period t* = 60, </a:t>
            </a:r>
            <a:r>
              <a:rPr sz="1300" b="1" i="0">
                <a:solidFill>
                  <a:srgbClr val="B5652F"/>
                </a:solidFill>
                <a:latin typeface="Segoe UI"/>
              </a:rPr>
              <a:t>one edge changes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: addition, removal, sign reversal, or weight doubling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1B1F"/>
                </a:solidFill>
                <a:latin typeface="Segoe UI"/>
              </a:rPr>
              <a:t>12 scenarios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: 4 change types × 3 independently generated systems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1B1F"/>
                </a:solidFill>
                <a:latin typeface="Segoe UI"/>
              </a:rPr>
              <a:t>exact ground truth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: the one-step-ahead distribution is Gaussian given the observed state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1B1F"/>
                </a:solidFill>
                <a:latin typeface="Segoe UI"/>
              </a:rPr>
              <a:t>8 checkpoints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: 3 pre-change (beliefs must be established before perseverance is interpretable), 5 post-change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Shown: scenario seed 300 (sign reversal). Triangles mark the elicitation checkpoints.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85800" y="3017520"/>
            <a:ext cx="10881360" cy="2788920"/>
          </a:xfrm>
          <a:prstGeom prst="rect">
            <a:avLst/>
          </a:prstGeom>
          <a:solidFill>
            <a:srgbClr val="F4F4F2"/>
          </a:solidFill>
          <a:ln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Elicitation protocol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the prompt is minimal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B1B1F"/>
                </a:solidFill>
                <a:latin typeface="Segoe UI"/>
              </a:rPr>
              <a:t>The model receives only the raw series through period t, and a single question.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no structural information is provided, and no indication that a change may occur — unprompted detection is part of the measurement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checkpoints are independent calls; no information persists between them except under explicit carryover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1B1F"/>
                </a:solidFill>
                <a:latin typeface="Consolas"/>
              </a:rPr>
              <a:t>SYSTEM: You are an expert probability estimator. [...] Respond with ONLY valid JSON: {"probability": &lt;float&gt;}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/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USER: Below is a recording of a system of 8 numeric variables, observed once per period for 66 consecutive periods.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period       X1       X2       X3   ...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     1     0.83     1.94     1.10   ...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   ...      ...      ...      ...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    66     1.02    -0.44     2.31   ...</a:t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/>
            </a:r>
          </a:p>
          <a:p>
            <a:r>
              <a:rPr sz="1200" b="0" i="0">
                <a:solidFill>
                  <a:srgbClr val="1B1B1F"/>
                </a:solidFill>
                <a:latin typeface="Consolas"/>
              </a:rPr>
              <a:t>What is the probability that X2 in period 67 (the next period) will exceed -0.52?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The threshold τ is placed at the midpoint of the old-regime and new-regime predictions; the stated probability therefore necessarily reveals which regime the model treats as current.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Forecast items and reference forecasts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each response is located between exact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B1B1F"/>
                </a:solidFill>
                <a:latin typeface="Segoe UI"/>
              </a:rPr>
              <a:t>Two forecast items per checkpoint: the </a:t>
            </a:r>
            <a:r>
              <a:rPr sz="1600" b="1" i="0">
                <a:solidFill>
                  <a:srgbClr val="3A6EA5"/>
                </a:solidFill>
                <a:latin typeface="Segoe UI"/>
              </a:rPr>
              <a:t>affected variable</a:t>
            </a:r>
            <a:r>
              <a:rPr sz="1600" b="0" i="0">
                <a:solidFill>
                  <a:srgbClr val="1B1B1F"/>
                </a:solidFill>
                <a:latin typeface="Segoe UI"/>
              </a:rPr>
              <a:t> (a change to edge i→j alters only the conditional distribution of j) and an </a:t>
            </a:r>
            <a:r>
              <a:rPr sz="1600" b="1" i="0">
                <a:solidFill>
                  <a:srgbClr val="1B1B1F"/>
                </a:solidFill>
                <a:latin typeface="Segoe UI"/>
              </a:rPr>
              <a:t>unaffected control variable</a:t>
            </a:r>
            <a:r>
              <a:rPr sz="1600" b="0" i="0">
                <a:solidFill>
                  <a:srgbClr val="1B1B1F"/>
                </a:solidFill>
                <a:latin typeface="Segoe UI"/>
              </a:rPr>
              <a:t>. Error that rises on both indicates nonspecific degradation rather than detection.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14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377440"/>
                <a:gridCol w="2926080"/>
                <a:gridCol w="31089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reference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data used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mechanism known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truth p*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current state only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the current equations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scoring target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stale reference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current state only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the pre-change equations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perseverance bound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rolling window (20 periods)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last 20 observations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none — refit each checkpoint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purely recency-based strategy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rolling statistician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last 20 observations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none — asserts edges at |t| &gt; 2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classical statistical reference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The model receives strictly more data than every reference. Each error decomposes as (model − achievable) + (achievable − truth), and only the first term reflects on the model. Detection latency is assessed against certified detectability in the realized sample, not against t*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Structure elicitation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probabilities on targeted edges rather than the full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B1B1F"/>
                </a:solidFill>
                <a:latin typeface="Segoe UI"/>
              </a:rPr>
              <a:t>Whole-graph scores are insensitive to the manipulation. </a:t>
            </a:r>
            <a:r>
              <a:rPr sz="1700" b="0" i="0">
                <a:solidFill>
                  <a:srgbClr val="1B1B1F"/>
                </a:solidFill>
                <a:latin typeface="Segoe UI"/>
              </a:rPr>
              <a:t>The two regimes share 17 of 18 edges, so any whole-network measure is dominated by the unchanged edges.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B1B1F"/>
                </a:solidFill>
                <a:latin typeface="Segoe UI"/>
              </a:rPr>
              <a:t>Per-edge probability elicitation on tracked pairs.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at each checkpoint, one pair per query: the changed edge and three strength-matched comparison edges (two present in both regimes, one absent in both)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two probabilities per pair — that the influence is present, and that it is positive conditional on presence — scored by Brier score against the exact truth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the estimand is a difference-in-differences: movement on the changed edge across t*, relative to the comparison edges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C5C66"/>
                </a:solidFill>
                <a:latin typeface="Segoe UI"/>
              </a:rPr>
              <a:t>querying a pair signals its relevance; the comparison edges receive the identical signal, which the difference removes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Predicted signatures by change type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the behavior of a calibrated respondent on the changed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658367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change at t*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</a:rPr>
                        <a:t>predicted signature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edge added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P(present) rises from low to high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edge removed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P(present) falls from high to low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sign reversal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P(present) remains high; P(positive) crosses 0.5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weight doubled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1B1F"/>
                          </a:solidFill>
                          <a:latin typeface="Segoe UI"/>
                        </a:rPr>
                        <a:t>the edge's presence is unchanged, but the evidence for it strengthens; P(present) should therefore increase toward certainty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C5C66"/>
                </a:solidFill>
                <a:latin typeface="Segoe UI"/>
              </a:rPr>
              <a:t>Weight-doubling scenarios are admitted only when the reference statistician's confidence (rolling 20-period |t|, recorded with every response) increases materially across t*; otherwise detectability, rather than the model, would be under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1">
                <a:solidFill>
                  <a:srgbClr val="5C5C66"/>
                </a:solidFill>
                <a:latin typeface="Segoe UI"/>
              </a:rPr>
              <a:t>Forecasts remain the primary channel for magnitude changes; structure elicitation provides the corresponding belief measure on the same event.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Extension 1: simultaneous structural changes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k ∈ {1, 3, 6} edges change at t*, as nested 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The manipulation separates two abilities rather than scaling a single difficulty: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F7D4F"/>
                </a:solidFill>
                <a:latin typeface="Segoe UI"/>
              </a:rPr>
              <a:t>Detection becomes easier.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Additional changed edges produce additional variables with elevated forecast residuals.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B5652F"/>
                </a:solidFill>
                <a:latin typeface="Segoe UI"/>
              </a:rPr>
              <a:t>Attribution becomes harder.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Identifying which incoming edges changed grows more demanding with each affected variable.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>Prediction: the forecast–structure dissociation widens with k, as the gains from easier detection accrue to forecasting while the costs of attribution accrue to stated structure.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5C5C66"/>
                </a:solidFill>
                <a:latin typeface="Segoe UI"/>
              </a:rPr>
              <a:t>Nesting ensures comparability: the k = 1 change is contained in the k = 3 set, which is contained in the k = 6 set; the k = 1 environment is identical to the single-change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Extension 2: latent confounding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an environment in which forecast accuracy alone requires causal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con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498079" cy="2789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371600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1">
                <a:solidFill>
                  <a:srgbClr val="1B1B1F"/>
                </a:solidFill>
                <a:latin typeface="Segoe UI"/>
              </a:rPr>
              <a:t>In the lagged design, structure is identifiable from observation alone, so a statistical forecaster is the performance ceiling.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B1B1F"/>
                </a:solidFill>
                <a:latin typeface="Segoe UI"/>
              </a:rPr>
              <a:t>This environment removes that ceiling. </a:t>
            </a:r>
            <a:r>
              <a:rPr sz="1300" b="0" i="0">
                <a:solidFill>
                  <a:srgbClr val="1B1B1F"/>
                </a:solidFill>
                <a:latin typeface="Segoe UI"/>
              </a:rPr>
              <a:t>A latent variable U drives X1 and X2; approximately 25% of periods carry labeled interventions on X1, severing U→X1. The resulting decoupling (right) makes the confounding learnable from the presented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52628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120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the same value a, three questions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correct answer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observe X1 = a next period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use a — an observed X1 is evidence about U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set X1 = a next period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disregard a — the intervention severs U→X1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set X3 = a (a genuine cause)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B1B1F"/>
                          </a:solidFill>
                          <a:latin typeface="Segoe UI"/>
                        </a:rPr>
                        <a:t>use a — excludes the heuristic of discounting all interventions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A respondent without the causal structure must answer the observational and interventional questions identically, and is therefore wrong on one of them by a certified margin: items are admitted only when the two correct answers differ by at least 0.15 (realized gaps 0.30–0.55). All ground truth is closed-form and Monte-Carlo validated.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Controls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each removes one alternative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217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</a:rPr>
                        <a:t>alternative explanation removed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forecasts on an unaffected variable, every checkpoint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nonspecific post-change degradation read as detection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no-change environments (identical design, no change)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drift or degradation that occurs regardless of any change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repeated identical prompts; temperature 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response instability attributable to sampling variance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strength-matched comparison edges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global drift in stated beliefs read as edge-specific revision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carryover of the correct pre-change structure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failure to revise attributable to the absence of any initial belief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interventions on a genuine cause (set X3)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B1B1F"/>
                          </a:solidFill>
                          <a:latin typeface="Segoe UI"/>
                        </a:rPr>
                        <a:t>indiscriminate discounting of interventions scored as causal competence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Registered hypotheses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stated prior to data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4241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prediction</a:t>
                      </a:r>
                    </a:p>
                  </a:txBody>
                  <a:tcPr marT="38100" marB="38100">
                    <a:solidFill>
                      <a:srgbClr val="1B1B1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D1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after the change, forecast error rises on the affected variable specifically, not on the controls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D2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responses initially track the pre-change equations and depart from them as evidence accumulates; the crossing point defines the detection time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D3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the model underperforms the purely recency-based reference fitted to the same data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D4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stated structure registers added and removed edges and sign reversals; weight doubling is registered through confidence rather than a change in truth value</a:t>
                      </a:r>
                    </a:p>
                  </a:txBody>
                  <a:tcPr marT="38100" marB="38100">
                    <a:solidFill>
                      <a:srgbClr val="F4F4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D5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B1B1F"/>
                          </a:solidFill>
                          <a:latin typeface="Segoe UI"/>
                        </a:rPr>
                        <a:t>primary hypothesis: forecasts and stated structure update at different rates — adaptation without revision would constitute prediction without understanding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5C66"/>
                </a:solidFill>
                <a:latin typeface="Segoe UI"/>
              </a:rPr>
              <a:t>Analysis: mixed-effects models with scenario random intercepts. Detection latencies are certified against what the realized sample supports, not against t*.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1B1F"/>
                </a:solidFill>
                <a:latin typeface="Segoe UI"/>
              </a:rPr>
              <a:t>Summary</a:t>
            </a:r>
          </a:p>
          <a:p>
            <a:r>
              <a:rPr sz="1300" b="0" i="1">
                <a:solidFill>
                  <a:srgbClr val="5C5C66"/>
                </a:solidFill>
                <a:latin typeface="Segoe UI"/>
              </a:rPr>
              <a:t>what the design provides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5855" cy="279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One environment, two scored channels.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Stated probabilities are scored against exact p*, and stated structure against the exact graph, before and after a controlled change.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The dissociation is measurable.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Forecast-recovery latency and belief-revision latency are separate curves on a common clock.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Failures are attributable.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Reference forecasts decompose every error into model-versus-achievable and achievable-versus-truth components.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1B1B1F"/>
                </a:solidFill>
                <a:latin typeface="Segoe UI"/>
              </a:rPr>
              <a:t>Causal necessity is certified. </a:t>
            </a:r>
            <a:r>
              <a:rPr sz="1800" b="0" i="0">
                <a:solidFill>
                  <a:srgbClr val="1B1B1F"/>
                </a:solidFill>
                <a:latin typeface="Segoe UI"/>
              </a:rPr>
              <a:t>In the confounded environment, the best purely statistical forecast is wrong by a known per-item margin; only causal reasoning closes the gap.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B1B1F"/>
                </a:solidFill>
                <a:latin typeface="Segoe UI"/>
              </a:rPr>
              <a:t/>
            </a:r>
          </a:p>
          <a:p>
            <a:pPr>
              <a:spcAft>
                <a:spcPts val="1200"/>
              </a:spcAft>
            </a:pPr>
            <a:r>
              <a:rPr sz="1400" b="0" i="1">
                <a:solidFill>
                  <a:srgbClr val="5C5C66"/>
                </a:solidFill>
                <a:latin typeface="Segoe UI"/>
              </a:rPr>
              <a:t>Status: environments and item batteries implemented and validated (closed forms verified by Monte Carlo); single-model pilot complete; multi-model replication, the simultaneous-change manipulation, and the confounded environment are queued.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