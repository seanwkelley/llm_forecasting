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002E"/>
          </a:solidFill>
          <a:ln w="12700">
            <a:solidFill>
              <a:srgbClr val="B80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972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9D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MEETING  ·  APRIL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972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 Network Topology Predicts</a:t>
            </a:r>
            <a:endParaRPr lang="en-US" sz="3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LLM Forecasters Revise Probabilities</a:t>
            </a:r>
            <a:endParaRPr lang="en-US" sz="3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Presented with New Information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4297680"/>
            <a:ext cx="2011680" cy="27432"/>
          </a:xfrm>
          <a:prstGeom prst="rect">
            <a:avLst/>
          </a:prstGeom>
          <a:solidFill>
            <a:srgbClr val="B8002E"/>
          </a:solidFill>
          <a:ln w="12700">
            <a:solidFill>
              <a:srgbClr val="B80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480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results + proposed external-forecasting extension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Kelley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7607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D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Northeastern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02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sits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8580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increasingly used as forecasters on complex multi-domain questions.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evaluates accuracy against markets or ground truth.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less is known about how forecasts emerge — what factors the model weighs, how it updates under new evidence.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that, forecasts remain black boxes that are hard to audit or interrogate.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863840" y="1417320"/>
            <a:ext cx="3749040" cy="34747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1417320"/>
            <a:ext cx="73152" cy="3474720"/>
          </a:xfrm>
          <a:prstGeom prst="rect">
            <a:avLst/>
          </a:prstGeom>
          <a:solidFill>
            <a:srgbClr val="B8002E"/>
          </a:solidFill>
          <a:ln w="12700">
            <a:solidFill>
              <a:srgbClr val="B80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80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138160" y="19202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tells you whether the forecast was right. It doesn't tell you why it moved.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38160" y="40233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 opens up the update step.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115568"/>
            <a:ext cx="11094415" cy="10973"/>
          </a:xfrm>
          <a:prstGeom prst="rect">
            <a:avLst/>
          </a:prstGeom>
          <a:solidFill>
            <a:srgbClr val="D6DDE7"/>
          </a:solidFill>
          <a:ln w="12700">
            <a:solidFill>
              <a:srgbClr val="D6DD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42655" y="411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Kelley  ·  Lab Meeting  ·  Northeastern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02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question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4415" cy="2194560"/>
          </a:xfrm>
          <a:prstGeom prst="rect">
            <a:avLst/>
          </a:prstGeom>
          <a:solidFill>
            <a:srgbClr val="DDE7F4"/>
          </a:solidFill>
          <a:ln w="12700">
            <a:solidFill>
              <a:srgbClr val="DDE7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83080"/>
            <a:ext cx="914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1920240" y="1874520"/>
            <a:ext cx="94484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LLM forecasters update their probabilities in a way that is internally consistent with the causal structure they themselves elicit?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B80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yes, the elicited DAG is more than a post-hoc rationalization — it is a genuine diagnostic of the reasoning that produced the forecast.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1115568"/>
            <a:ext cx="11094415" cy="10973"/>
          </a:xfrm>
          <a:prstGeom prst="rect">
            <a:avLst/>
          </a:prstGeom>
          <a:solidFill>
            <a:srgbClr val="D6DDE7"/>
          </a:solidFill>
          <a:ln w="12700">
            <a:solidFill>
              <a:srgbClr val="D6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42655" y="411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Kelley  ·  Lab Meeting  ·  Northeastern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02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 · 116 high-complexity ForecastBench questions · 7 models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9304" cy="31089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2659304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29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 Forecast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22935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produces initial probability p₀ and a directed causal graph G=(V,E) with 6–10 factor nodes, one outcome node, and annotated mechanisms on edges.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0344" y="1645920"/>
            <a:ext cx="2659304" cy="31089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60344" y="1645920"/>
            <a:ext cx="2659304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3224" y="18288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543224" y="2606040"/>
            <a:ext cx="229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Analysis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43224" y="3017520"/>
            <a:ext cx="22935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betweenness centrality and outcome mediation; rank nodes into high / medium / low importance tiers.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048" y="1645920"/>
            <a:ext cx="2659304" cy="31089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048" y="1645920"/>
            <a:ext cx="2659304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4928" y="18288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354928" y="2606040"/>
            <a:ext cx="229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Probe Generation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4928" y="3017520"/>
            <a:ext cx="22935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authors ~21 counterfactual probes per question spanning strengthen, negate, structural challenge, and control types.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83751" y="1645920"/>
            <a:ext cx="2659304" cy="31089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83751" y="1645920"/>
            <a:ext cx="2659304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66631" y="18288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9166631" y="2606040"/>
            <a:ext cx="229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Probed Forecast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66631" y="3017520"/>
            <a:ext cx="22935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each probe in a fresh context; record updated probability pᵢ.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11094415" cy="132588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029200"/>
            <a:ext cx="73152" cy="1325880"/>
          </a:xfrm>
          <a:prstGeom prst="rect">
            <a:avLst/>
          </a:prstGeom>
          <a:solidFill>
            <a:srgbClr val="B8002E"/>
          </a:solidFill>
          <a:ln w="12700">
            <a:solidFill>
              <a:srgbClr val="B800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166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B80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5486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shifts are mechanically bounded, so we use the absolute log-odds shift |Δ logit|.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59618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mixed-effects regression (lme4): question-level random intercepts, model fixed effects.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66360" y="5212080"/>
            <a:ext cx="13716" cy="960120"/>
          </a:xfrm>
          <a:prstGeom prst="rect">
            <a:avLst/>
          </a:prstGeom>
          <a:solidFill>
            <a:srgbClr val="D6DDE7"/>
          </a:solidFill>
          <a:ln w="12700">
            <a:solidFill>
              <a:srgbClr val="D6DD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5029200"/>
            <a:ext cx="62480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|Δ logit|ᵢ  =  | log( pᵢ / (1 − pᵢ) )  −  log( p₀ / (1 − p₀) ) |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48640" y="1481328"/>
            <a:ext cx="11094415" cy="10973"/>
          </a:xfrm>
          <a:prstGeom prst="rect">
            <a:avLst/>
          </a:prstGeom>
          <a:solidFill>
            <a:srgbClr val="D6DDE7"/>
          </a:solidFill>
          <a:ln w="12700">
            <a:solidFill>
              <a:srgbClr val="D6DD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42655" y="411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Kelley  ·  Lab Meeting  ·  Northeastern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02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exemplar DAGs</a:t>
            </a:r>
            <a:endParaRPr lang="en-US" sz="2600" dirty="0"/>
          </a:p>
        </p:txBody>
      </p:sp>
      <p:pic>
        <p:nvPicPr>
          <p:cNvPr id="3" name="Image 0" descr="/sessions/admiring-intelligent-ride/mnt/Northeastern/LLM_Forecasting/paper/figures/main/exemplar_networks_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840" y="1417320"/>
            <a:ext cx="8452015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macroeconomic question (8 nodes, 8 edges).   ·   Right: geopolitical question (7 nodes, 8 edges).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61996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domains — recognizable topology.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115568"/>
            <a:ext cx="11094415" cy="10973"/>
          </a:xfrm>
          <a:prstGeom prst="rect">
            <a:avLst/>
          </a:prstGeom>
          <a:solidFill>
            <a:srgbClr val="D6DDE7"/>
          </a:solidFill>
          <a:ln w="12700">
            <a:solidFill>
              <a:srgbClr val="D6DD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42655" y="411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Kelley  ·  Lab Meeting  ·  Northeastern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02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Topology predicts probe sensitivity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023360" cy="146304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+0.0093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SD of node betweenness centrality  ·  p &lt; .001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4023360" cy="146304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46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+0.0105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SD of outcome mediation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probability space: ~0.2 pp per SD at p₀=0.5 — small alone, cumulative across tiers. Probes on the most central factors shift probabilities 2–3 pp more than probes on peripheral ones.</a:t>
            </a:r>
            <a:endParaRPr lang="en-US" sz="1300" dirty="0"/>
          </a:p>
        </p:txBody>
      </p:sp>
      <p:pic>
        <p:nvPicPr>
          <p:cNvPr id="10" name="Image 0" descr="/sessions/admiring-intelligent-ride/mnt/Northeastern/LLM_Forecasting/paper/figures/main/probe_eff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828800"/>
            <a:ext cx="6705295" cy="252304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937760" y="4443285"/>
            <a:ext cx="6705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effects by centrality tier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1115568"/>
            <a:ext cx="11094415" cy="10973"/>
          </a:xfrm>
          <a:prstGeom prst="rect">
            <a:avLst/>
          </a:prstGeom>
          <a:solidFill>
            <a:srgbClr val="D6DDE7"/>
          </a:solidFill>
          <a:ln w="12700">
            <a:solidFill>
              <a:srgbClr val="D6DD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42655" y="411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Kelley  ·  Lab Meeting  ·  Northeastern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02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effect holds across models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18608" cy="47548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73152" cy="47548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467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 ROBUSTNESS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of 7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467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show a positive, significant grounding coefficient.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46785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Slopes range from 0.009 (DeepSeek V3, Qwen3 32B) to 0.022 (Gemini 2.5 Flash Lite).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 is the one exception.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24448" y="1463040"/>
            <a:ext cx="5318608" cy="47548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24448" y="1463040"/>
            <a:ext cx="73152" cy="4754880"/>
          </a:xfrm>
          <a:prstGeom prst="rect">
            <a:avLst/>
          </a:prstGeom>
          <a:solidFill>
            <a:srgbClr val="B8002E"/>
          </a:solidFill>
          <a:ln w="12700">
            <a:solidFill>
              <a:srgbClr val="B80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44488" y="1691640"/>
            <a:ext cx="467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B80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vs EDGES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44488" y="2011680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0.57  vs  0.43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644488" y="3063240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|Δ logit| for probes targeting nodes vs edges  ·  d = 0.47, p &lt; .001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44488" y="3931920"/>
            <a:ext cx="4678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holds in every model — per-model node–edge gaps range from +0.07 to +0.25.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1115568"/>
            <a:ext cx="11094415" cy="10973"/>
          </a:xfrm>
          <a:prstGeom prst="rect">
            <a:avLst/>
          </a:prstGeom>
          <a:solidFill>
            <a:srgbClr val="D6DDE7"/>
          </a:solidFill>
          <a:ln w="12700">
            <a:solidFill>
              <a:srgbClr val="D6DD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42655" y="411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Kelley  ·  Lab Meeting  ·  Northeastern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02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Reasoning covaries with the update</a:t>
            </a:r>
            <a:endParaRPr lang="en-US" sz="2600" dirty="0"/>
          </a:p>
        </p:txBody>
      </p:sp>
      <p:pic>
        <p:nvPicPr>
          <p:cNvPr id="3" name="Image 0" descr="/sessions/admiring-intelligent-ride/mnt/Northeastern/LLM_Forecasting/paper/figures/main/coh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999324" cy="4023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5164" y="1554480"/>
            <a:ext cx="5637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CONVERGING SIGNALS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005164" y="1965960"/>
            <a:ext cx="56378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Judge-rated stated impact tracks |Δ logit|.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reasoning produces larger updates than hedged.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coherence: updates shrink as p₀ moves from 0.5.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embeddings cluster more tightly for targeted probes than irrelevant controls.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5623560"/>
            <a:ext cx="49993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coherence diagnostics: stated impact, confidence, Bayesian coherence, reasoning-embedding clustering.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115568"/>
            <a:ext cx="11094415" cy="10973"/>
          </a:xfrm>
          <a:prstGeom prst="rect">
            <a:avLst/>
          </a:prstGeom>
          <a:solidFill>
            <a:srgbClr val="D6DDE7"/>
          </a:solidFill>
          <a:ln w="12700">
            <a:solidFill>
              <a:srgbClr val="D6DD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42655" y="411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Kelley  ·  Lab Meeting  ·  Northeastern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02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Explicit ranking and implicit topology both matter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17373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rank ↔ betweenness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490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β = −0.336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.001  ·  models' own rankings align with topology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78728" y="1463040"/>
            <a:ext cx="5364328" cy="17373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7328" y="164592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model (both predictors)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07328" y="2057400"/>
            <a:ext cx="490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β_rank = −0.057    ·    β_betw = +0.025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07328" y="278892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 &lt; .001  ·  joint R²ₘ = 0.249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11094415" cy="2011680"/>
          </a:xfrm>
          <a:prstGeom prst="rect">
            <a:avLst/>
          </a:prstGeom>
          <a:solidFill>
            <a:srgbClr val="DDE7F4"/>
          </a:solidFill>
          <a:ln w="12700">
            <a:solidFill>
              <a:srgbClr val="DDE7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657600"/>
            <a:ext cx="73152" cy="20116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840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416052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structural signal is partly implicit — visible in behavioral updating, not fully accessible through introspective ranking.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8640" y="1115568"/>
            <a:ext cx="11094415" cy="10973"/>
          </a:xfrm>
          <a:prstGeom prst="rect">
            <a:avLst/>
          </a:prstGeom>
          <a:solidFill>
            <a:srgbClr val="D6DDE7"/>
          </a:solidFill>
          <a:ln w="12700">
            <a:solidFill>
              <a:srgbClr val="D6DD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42655" y="411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Kelley  ·  Lab Meeting  ·  Northeastern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02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Cross-model DAG agreement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Same-question DAGs are more similar than a permutation null, but absolute agreement is modest.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67864" cy="237744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68880"/>
            <a:ext cx="2202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0.881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2202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nGED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88620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null 0.998 · p &lt; .001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90824" y="2148840"/>
            <a:ext cx="2567864" cy="237744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73704" y="2468880"/>
            <a:ext cx="2202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573704" y="3337560"/>
            <a:ext cx="2202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outcome-node match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73704" y="388620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cross-model pairs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3008" y="2148840"/>
            <a:ext cx="2567864" cy="237744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5888" y="2468880"/>
            <a:ext cx="2202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15888" y="3337560"/>
            <a:ext cx="2202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mass from edge ops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15888" y="388620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39% from node ops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75191" y="2148840"/>
            <a:ext cx="2567864" cy="237744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58071" y="2468880"/>
            <a:ext cx="2202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Partial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258071" y="3337560"/>
            <a:ext cx="2202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58071" y="388620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chance, not interchangeable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029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disagree more about causal wiring than about which factors matter. Structural overlap exceeds chance; convergence is partial, not interchangeable.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1115568"/>
            <a:ext cx="11094415" cy="10973"/>
          </a:xfrm>
          <a:prstGeom prst="rect">
            <a:avLst/>
          </a:prstGeom>
          <a:solidFill>
            <a:srgbClr val="D6DDE7"/>
          </a:solidFill>
          <a:ln w="12700">
            <a:solidFill>
              <a:srgbClr val="D6DD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42655" y="411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Kelley  ·  Lab Meeting  ·  Northeastern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02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checks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main controls plus three supplementary checks — all point the same direction.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4415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Persuasiveness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0" y="1737360"/>
            <a:ext cx="7985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Importance–shift correlation survives residualizing on independent persuasiveness ratings.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3408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Forced-ignore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2340864"/>
            <a:ext cx="7985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Instructing the model to ignore a factor (no probe) still yields shifts scaled to that factor's centrality.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44368"/>
            <a:ext cx="11094415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443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rewiring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944368"/>
            <a:ext cx="7985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Randomizing the DAG's edges drops the grounding slope by ~19%.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5478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graphs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3547872"/>
            <a:ext cx="7985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the node cap leaves the slope unchanged.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51376"/>
            <a:ext cx="11094415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5137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Spurious context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4151376"/>
            <a:ext cx="7985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rate: 0 / 116.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754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Test–retest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4754880"/>
            <a:ext cx="7985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0.73 – 0.96 across models.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358384"/>
            <a:ext cx="11094415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3583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5358384"/>
            <a:ext cx="7985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Temperature-driven nGED much smaller than inter-model divergence.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1481328"/>
            <a:ext cx="11094415" cy="10973"/>
          </a:xfrm>
          <a:prstGeom prst="rect">
            <a:avLst/>
          </a:prstGeom>
          <a:solidFill>
            <a:srgbClr val="D6DDE7"/>
          </a:solidFill>
          <a:ln w="12700">
            <a:solidFill>
              <a:srgbClr val="D6DD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42655" y="411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Kelley  ·  Lab Meeting  ·  Northeastern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02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paper establishes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9441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forecasters update internally consistently with their own elicited causal DAGs.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betweenness and outcome mediation both predict the magnitude of probability revision.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move probabilities more than edges; direct and indirect causes contribute independently.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holds across 6 of 7 models and survives persuasiveness, rewiring, and size controls.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 structural agreement is above chance but partial.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0"/>
            <a:ext cx="11094415" cy="11887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21208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faithfulness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557784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elicited DAG is a genuine diagnostic of the reasoning behind the forecast.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115568"/>
            <a:ext cx="11094415" cy="10973"/>
          </a:xfrm>
          <a:prstGeom prst="rect">
            <a:avLst/>
          </a:prstGeom>
          <a:solidFill>
            <a:srgbClr val="D6DDE7"/>
          </a:solidFill>
          <a:ln w="12700">
            <a:solidFill>
              <a:srgbClr val="D6DD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42655" y="411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Kelley  ·  Lab Meeting  ·  Northeastern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002E"/>
          </a:solidFill>
          <a:ln w="12700">
            <a:solidFill>
              <a:srgbClr val="B80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B80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PROPOSED EXTENSION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802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coherence to accuracy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PAPER SHOWS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DAG governs how a model revises its beliefs — but not that those revisions are better calibrated than they would be otherwise.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18288" cy="3474720"/>
          </a:xfrm>
          <a:prstGeom prst="rect">
            <a:avLst/>
          </a:prstGeom>
          <a:solidFill>
            <a:srgbClr val="D6DDE7"/>
          </a:solidFill>
          <a:ln w="12700">
            <a:solidFill>
              <a:srgbClr val="D6DD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B80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QUESTION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09360" y="1920240"/>
            <a:ext cx="533369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high-betweenness factors are where the model weighs evidence most heavily, can we use that topology to guide an evidence-gathering agent and improve forecast accuracy on held-out questions?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5486400"/>
            <a:ext cx="2743200" cy="7315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5486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(paper)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0" y="5852160"/>
            <a:ext cx="1371600" cy="0"/>
          </a:xfrm>
          <a:prstGeom prst="line">
            <a:avLst/>
          </a:prstGeom>
          <a:noFill/>
          <a:ln w="38100">
            <a:solidFill>
              <a:srgbClr val="1E40A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03520" y="5486400"/>
            <a:ext cx="2743200" cy="731520"/>
          </a:xfrm>
          <a:prstGeom prst="rect">
            <a:avLst/>
          </a:prstGeom>
          <a:solidFill>
            <a:srgbClr val="DDE7F4"/>
          </a:solidFill>
          <a:ln w="12700">
            <a:solidFill>
              <a:srgbClr val="DDE7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5486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(next)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1115568"/>
            <a:ext cx="11094415" cy="10973"/>
          </a:xfrm>
          <a:prstGeom prst="rect">
            <a:avLst/>
          </a:prstGeom>
          <a:solidFill>
            <a:srgbClr val="D6DDE7"/>
          </a:solidFill>
          <a:ln w="12700">
            <a:solidFill>
              <a:srgbClr val="D6DD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Kelley  ·  Lab Meeting  ·  Northeastern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02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Four-condition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conditions start from the same Stage 1 DAG and p₀  ·  Equal total budget across search conditions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4415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73152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no_search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23360" y="1737360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None; p₁ = p₀ (baseline).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11094415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15768"/>
            <a:ext cx="73152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1576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untargeted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23360" y="2715768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free-searches the question. 8 queries.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94176"/>
            <a:ext cx="11094415" cy="868680"/>
          </a:xfrm>
          <a:prstGeom prst="rect">
            <a:avLst/>
          </a:prstGeom>
          <a:solidFill>
            <a:srgbClr val="DDE7F4"/>
          </a:solidFill>
          <a:ln w="12700">
            <a:solidFill>
              <a:srgbClr val="DDE7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694176"/>
            <a:ext cx="73152" cy="8686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94176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topology_targeted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023360" y="3694176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focused on top-3 high-betweenness factors.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997135" y="3831336"/>
            <a:ext cx="1371600" cy="320040"/>
          </a:xfrm>
          <a:prstGeom prst="rect">
            <a:avLst/>
          </a:prstGeom>
          <a:solidFill>
            <a:srgbClr val="1E40A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ARM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672584"/>
            <a:ext cx="11094415" cy="868680"/>
          </a:xfrm>
          <a:prstGeom prst="rect">
            <a:avLst/>
          </a:prstGeom>
          <a:solidFill>
            <a:srgbClr val="FBEAEE"/>
          </a:solidFill>
          <a:ln w="12700">
            <a:solidFill>
              <a:srgbClr val="FBEA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672584"/>
            <a:ext cx="73152" cy="868680"/>
          </a:xfrm>
          <a:prstGeom prst="rect">
            <a:avLst/>
          </a:prstGeom>
          <a:solidFill>
            <a:srgbClr val="B8002E"/>
          </a:solidFill>
          <a:ln w="12700">
            <a:solidFill>
              <a:srgbClr val="B80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672584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0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peripheral_targeted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023360" y="4672584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focused on bottom-3 low-betweenness factors.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578815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0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contrast: </a:t>
            </a:r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vs peripheral (isolates centrality from decomposition).     </a:t>
            </a:r>
            <a:pPr algn="l" indent="0" marL="0">
              <a:buNone/>
            </a:pPr>
            <a:r>
              <a:rPr lang="en-US" sz="1200" b="1" dirty="0">
                <a:solidFill>
                  <a:srgbClr val="B80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</a:t>
            </a:r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vs untargeted.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1481328"/>
            <a:ext cx="11094415" cy="10973"/>
          </a:xfrm>
          <a:prstGeom prst="rect">
            <a:avLst/>
          </a:prstGeom>
          <a:solidFill>
            <a:srgbClr val="D6DDE7"/>
          </a:solidFill>
          <a:ln w="12700">
            <a:solidFill>
              <a:srgbClr val="D6DD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42655" y="411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EXTENSION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Kelley  ·  Lab Meeting  ·  Northeastern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02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peripheral_targeted arm?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it, a topology win is ambiguous between two stories.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18608" cy="21031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1 — Centrality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476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identifies where evidence matters most.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24448" y="2011680"/>
            <a:ext cx="5318608" cy="21031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8768" y="219456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0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2 — Decomposition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98768" y="2651760"/>
            <a:ext cx="476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untargeted queries paraphrase the main question and return overlapping snippets. ANY factor-scoped decomposition breaks that redundancy and may win regardless of which factors are targeted.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11094415" cy="1828800"/>
          </a:xfrm>
          <a:prstGeom prst="rect">
            <a:avLst/>
          </a:prstGeom>
          <a:solidFill>
            <a:srgbClr val="DDE7F4"/>
          </a:solidFill>
          <a:ln w="12700">
            <a:solidFill>
              <a:srgbClr val="DDE7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4389120"/>
            <a:ext cx="73152" cy="18288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84632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peripheral_targeted decomposes identically to topology_targeted — same prompt, same queries per factor, same integration format. Only the factor selection differs.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562356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topology beats peripheral → centrality is load-bearing. If they tie → decomposition was the whole story.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1115568"/>
            <a:ext cx="11094415" cy="10973"/>
          </a:xfrm>
          <a:prstGeom prst="rect">
            <a:avLst/>
          </a:prstGeom>
          <a:solidFill>
            <a:srgbClr val="D6DDE7"/>
          </a:solidFill>
          <a:ln w="12700">
            <a:solidFill>
              <a:srgbClr val="D6DD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42655" y="411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EXTENSION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Kelley  ·  Lab Meeting  ·  Northeastern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02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Questions, models, scoring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4415" cy="10515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73152" cy="10515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54680" y="1645920"/>
            <a:ext cx="8259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ForecastBench instances (2× oversample) resolving 7–90 days out. Data-anchored sources: yfinance, dbnomics, FRED, ACLED, Wikipedia. Markets excluded.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79192"/>
            <a:ext cx="11094415" cy="10515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79192"/>
            <a:ext cx="73152" cy="10515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79192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154680" y="2770632"/>
            <a:ext cx="8259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of the paper's seven — smaller models excluded by default; agentic tool-use unreliable at that scale.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03904"/>
            <a:ext cx="11094415" cy="10515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803904"/>
            <a:ext cx="73152" cy="10515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03904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 truth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54680" y="3895344"/>
            <a:ext cx="8259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ForecastBench's nightly resolution sets, idempotent re-run at each milestone.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928616"/>
            <a:ext cx="11094415" cy="10515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928616"/>
            <a:ext cx="73152" cy="10515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928616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154680" y="5020056"/>
            <a:ext cx="8259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 (p₁ − y)². Primary: paired Wilcoxon of B_peripheral − B_topology within (question, model). Secondary: topology vs untargeted. Supplementary: LME with crossed random effects.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1115568"/>
            <a:ext cx="11094415" cy="10973"/>
          </a:xfrm>
          <a:prstGeom prst="rect">
            <a:avLst/>
          </a:prstGeom>
          <a:solidFill>
            <a:srgbClr val="D6DDE7"/>
          </a:solidFill>
          <a:ln w="12700">
            <a:solidFill>
              <a:srgbClr val="D6DD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42655" y="411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EXTENSION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Kelley  ·  Lab Meeting  ·  Northeastern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02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Tiered resolution strategy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resolve on different clocks — results release in three milestones.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15258" cy="36576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3515258" cy="91440"/>
          </a:xfrm>
          <a:prstGeom prst="rect">
            <a:avLst/>
          </a:prstGeom>
          <a:solidFill>
            <a:srgbClr val="D6DDE7"/>
          </a:solidFill>
          <a:ln w="12700">
            <a:solidFill>
              <a:srgbClr val="D6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058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Preliminary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365760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· Wikipedia · daily FRED (rates) · daily dbnomics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709160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49377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dozen to 100 pairs per model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38218" y="1828800"/>
            <a:ext cx="3515258" cy="36576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38218" y="1828800"/>
            <a:ext cx="3515258" cy="91440"/>
          </a:xfrm>
          <a:prstGeom prst="rect">
            <a:avLst/>
          </a:prstGeom>
          <a:solidFill>
            <a:srgbClr val="D6DDE7"/>
          </a:solidFill>
          <a:ln w="12700">
            <a:solidFill>
              <a:srgbClr val="D6DD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6818" y="205740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66818" y="2377440"/>
            <a:ext cx="3058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Interim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66818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66818" y="3429000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66818" y="365760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ACLED weekly · FRED weekly · short-horizon dbnomics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66818" y="4709160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66818" y="49377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100–200 pairs per model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27797" y="1828800"/>
            <a:ext cx="3515258" cy="3657600"/>
          </a:xfrm>
          <a:prstGeom prst="rect">
            <a:avLst/>
          </a:prstGeom>
          <a:solidFill>
            <a:srgbClr val="DDE7F4"/>
          </a:solidFill>
          <a:ln w="12700">
            <a:solidFill>
              <a:srgbClr val="DDE7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27797" y="1828800"/>
            <a:ext cx="3515258" cy="914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56397" y="205740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8–12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56397" y="2377440"/>
            <a:ext cx="3058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356397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B80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PUBLICATION-GRADE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56397" y="3429000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56397" y="365760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FRED monthly macro (CPI, payrolls, unemployment)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56397" y="4709160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56397" y="49377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200 pairs per model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1481328"/>
            <a:ext cx="11094415" cy="10973"/>
          </a:xfrm>
          <a:prstGeom prst="rect">
            <a:avLst/>
          </a:prstGeom>
          <a:solidFill>
            <a:srgbClr val="D6DDE7"/>
          </a:solidFill>
          <a:ln w="12700">
            <a:solidFill>
              <a:srgbClr val="D6DD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42655" y="411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EXTENSION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Kelley  ·  Lab Meeting  ·  Northeastern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02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outcomes — and what each would mean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4415" cy="1280160"/>
          </a:xfrm>
          <a:prstGeom prst="rect">
            <a:avLst/>
          </a:prstGeom>
          <a:solidFill>
            <a:srgbClr val="DDE7F4"/>
          </a:solidFill>
          <a:ln w="12700">
            <a:solidFill>
              <a:srgbClr val="DDE7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73152" cy="12801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27632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Topology &gt; peripheral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Centrality signal transfers from coherence to accuracy. Strongest extension of the paper's claim. Elicited DAGs become a decision tool, not just an interpretability artifact.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1094415" cy="12801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880360"/>
            <a:ext cx="73152" cy="12801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044952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Topology ≈ peripheral,  both &gt; untargeted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61188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was the operative mechanism, not centrality. Methodologically useful but narrows the paper's contribution to reasoning transparency.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11094415" cy="12801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4297680"/>
            <a:ext cx="73152" cy="12801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462272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Neither targeted arm &gt; untargeted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502920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does not transfer to accuracy under this operationalization. Cautionary data point rather than capability demonstration.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of the three outcomes sharpens the main paper's framing.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1115568"/>
            <a:ext cx="11094415" cy="10973"/>
          </a:xfrm>
          <a:prstGeom prst="rect">
            <a:avLst/>
          </a:prstGeom>
          <a:solidFill>
            <a:srgbClr val="D6DDE7"/>
          </a:solidFill>
          <a:ln w="12700">
            <a:solidFill>
              <a:srgbClr val="D6DD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42655" y="411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EXTENSION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Kelley  ·  Lab Meeting  ·  Northeastern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02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and timeline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9441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built and tested — forecast_bench/agent_forecast/. Reuses the paper's Stage 1 prompt and network analysis.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selection, trial execution, resolution, and scoring commands are all scripted and resumable.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and search budgets finalized.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window: trials run now would resolve over the next 4–8 weeks as resolution dates pass.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5303520"/>
            <a:ext cx="11094415" cy="914400"/>
          </a:xfrm>
          <a:prstGeom prst="rect">
            <a:avLst/>
          </a:prstGeom>
          <a:solidFill>
            <a:srgbClr val="DDE7F4"/>
          </a:solidFill>
          <a:ln w="12700">
            <a:solidFill>
              <a:srgbClr val="DDE7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303520"/>
            <a:ext cx="73152" cy="914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LAUNCH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571500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Pending confirmation of the budget and model set.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115568"/>
            <a:ext cx="11094415" cy="10973"/>
          </a:xfrm>
          <a:prstGeom prst="rect">
            <a:avLst/>
          </a:prstGeom>
          <a:solidFill>
            <a:srgbClr val="D6DDE7"/>
          </a:solidFill>
          <a:ln w="12700">
            <a:solidFill>
              <a:srgbClr val="D6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42655" y="411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EXTENSION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Kelley  ·  Lab Meeting  ·  Northeastern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02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questions / discussion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DDE7F4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top/bottom-3 the right k, or should we vary it (top/bottom-2 vs top/bottom-5)?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78608"/>
            <a:ext cx="502920" cy="502920"/>
          </a:xfrm>
          <a:prstGeom prst="ellipse">
            <a:avLst/>
          </a:prstGeom>
          <a:solidFill>
            <a:srgbClr val="DDE7F4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441448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budget be per-factor or pooled with LLM discretion?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465576"/>
            <a:ext cx="502920" cy="502920"/>
          </a:xfrm>
          <a:prstGeom prst="ellipse">
            <a:avLst/>
          </a:prstGeom>
          <a:solidFill>
            <a:srgbClr val="DDE7F4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328416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include the smaller models despite tool-use fragility, or keep the comparison clean?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352544"/>
            <a:ext cx="502920" cy="502920"/>
          </a:xfrm>
          <a:prstGeom prst="ellipse">
            <a:avLst/>
          </a:prstGeom>
          <a:solidFill>
            <a:srgbClr val="DDE7F4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52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215384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additional controls worth pre-registering before launch?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239512"/>
            <a:ext cx="502920" cy="502920"/>
          </a:xfrm>
          <a:prstGeom prst="ellipse">
            <a:avLst/>
          </a:prstGeom>
          <a:solidFill>
            <a:srgbClr val="DDE7F4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5102352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500-question oversample the right size given the milestone structure?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1115568"/>
            <a:ext cx="11094415" cy="10973"/>
          </a:xfrm>
          <a:prstGeom prst="rect">
            <a:avLst/>
          </a:prstGeom>
          <a:solidFill>
            <a:srgbClr val="D6DDE7"/>
          </a:solidFill>
          <a:ln w="12700">
            <a:solidFill>
              <a:srgbClr val="D6DD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42655" y="411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EXTENSION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Kelley  ·  Lab Meeting  ·  Northeastern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002E"/>
          </a:solidFill>
          <a:ln w="12700">
            <a:solidFill>
              <a:srgbClr val="B80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031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THANKS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4572000"/>
            <a:ext cx="2011680" cy="27432"/>
          </a:xfrm>
          <a:prstGeom prst="rect">
            <a:avLst/>
          </a:prstGeom>
          <a:solidFill>
            <a:srgbClr val="B8002E"/>
          </a:solidFill>
          <a:ln w="12700">
            <a:solidFill>
              <a:srgbClr val="B80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D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Kelley  ·  Northeastern University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Northeastern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Causal Network Topology Predicts LLM Forecaster Updates</dc:title>
  <dc:subject>PptxGenJS Presentation</dc:subject>
  <dc:creator>Sean Kelley</dc:creator>
  <cp:lastModifiedBy>Sean Kelley</cp:lastModifiedBy>
  <cp:revision>1</cp:revision>
  <dcterms:created xsi:type="dcterms:W3CDTF">2026-04-24T17:58:53Z</dcterms:created>
  <dcterms:modified xsi:type="dcterms:W3CDTF">2026-04-24T17:58:53Z</dcterms:modified>
</cp:coreProperties>
</file>